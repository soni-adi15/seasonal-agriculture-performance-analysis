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5033" autoAdjust="0"/>
  </p:normalViewPr>
  <p:slideViewPr>
    <p:cSldViewPr snapToGrid="0">
      <p:cViewPr>
        <p:scale>
          <a:sx n="75" d="100"/>
          <a:sy n="75" d="100"/>
        </p:scale>
        <p:origin x="965" y="21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5" name="Footer Placeholder 4"/>
          <p:cNvSpPr>
            <a:spLocks noGrp="1"/>
          </p:cNvSpPr>
          <p:nvPr>
            <p:ph type="ftr" sz="quarter" idx="11"/>
          </p:nvPr>
        </p:nvSpPr>
        <p:spPr>
          <a:xfrm>
            <a:off x="677334" y="6041362"/>
            <a:ext cx="6297612"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205133" y="6041362"/>
            <a:ext cx="911939" cy="365125"/>
          </a:xfrm>
          <a:prstGeom prst="rect">
            <a:avLst/>
          </a:prstGeom>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a:xfrm>
            <a:off x="677334" y="6041362"/>
            <a:ext cx="6297612"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205133" y="6041362"/>
            <a:ext cx="911939" cy="365125"/>
          </a:xfrm>
          <a:prstGeom prst="rect">
            <a:avLst/>
          </a:prstGeom>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a:xfrm>
            <a:off x="677334" y="6041362"/>
            <a:ext cx="6297612"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7205133" y="6041362"/>
            <a:ext cx="911939" cy="365125"/>
          </a:xfrm>
          <a:prstGeom prst="rect">
            <a:avLst/>
          </a:prstGeom>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a:xfrm>
            <a:off x="677334" y="6041362"/>
            <a:ext cx="6297612" cy="365125"/>
          </a:xfrm>
          <a:prstGeom prst="rect">
            <a:avLst/>
          </a:prstGeom>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7205133" y="6041362"/>
            <a:ext cx="911939" cy="365125"/>
          </a:xfrm>
          <a:prstGeom prst="rect">
            <a:avLst/>
          </a:prstGeom>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a:xfrm>
            <a:off x="677334" y="6041362"/>
            <a:ext cx="6297612" cy="365125"/>
          </a:xfrm>
          <a:prstGeom prst="rect">
            <a:avLst/>
          </a:prstGeo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a:xfrm>
            <a:off x="7205133" y="6041362"/>
            <a:ext cx="911939" cy="365125"/>
          </a:xfrm>
          <a:prstGeom prst="rect">
            <a:avLst/>
          </a:prstGeom>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a:xfrm>
            <a:off x="677334" y="6041362"/>
            <a:ext cx="6297612" cy="365125"/>
          </a:xfrm>
          <a:prstGeom prst="rect">
            <a:avLst/>
          </a:prstGeom>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7205133" y="6041362"/>
            <a:ext cx="911939" cy="365125"/>
          </a:xfrm>
          <a:prstGeom prst="rect">
            <a:avLst/>
          </a:prstGeom>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a:xfrm>
            <a:off x="677334" y="6041362"/>
            <a:ext cx="6297612" cy="365125"/>
          </a:xfrm>
          <a:prstGeom prst="rect">
            <a:avLst/>
          </a:prstGeom>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05133" y="6041362"/>
            <a:ext cx="911939" cy="365125"/>
          </a:xfrm>
          <a:prstGeom prst="rect">
            <a:avLst/>
          </a:prstGeom>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a:xfrm>
            <a:off x="677334" y="6041362"/>
            <a:ext cx="6297612" cy="365125"/>
          </a:xfrm>
          <a:prstGeom prst="rect">
            <a:avLst/>
          </a:prstGeom>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a:xfrm>
            <a:off x="677334" y="6041362"/>
            <a:ext cx="6297612" cy="365125"/>
          </a:xfrm>
          <a:prstGeom prst="rect">
            <a:avLst/>
          </a:prstGeom>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a:xfrm>
            <a:off x="7205133" y="6041362"/>
            <a:ext cx="911939" cy="365125"/>
          </a:xfrm>
          <a:prstGeom prst="rect">
            <a:avLst/>
          </a:prstGeom>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205133" y="6041362"/>
            <a:ext cx="911939" cy="365125"/>
          </a:xfrm>
          <a:prstGeom prst="rect">
            <a:avLst/>
          </a:prstGeom>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a:xfrm>
            <a:off x="677334" y="6041362"/>
            <a:ext cx="6297612"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205133" y="6041362"/>
            <a:ext cx="911939" cy="365125"/>
          </a:xfrm>
          <a:prstGeom prst="rect">
            <a:avLst/>
          </a:prstGeom>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a:xfrm>
            <a:off x="677334" y="6041362"/>
            <a:ext cx="6297612"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205133" y="6041362"/>
            <a:ext cx="911939" cy="365125"/>
          </a:xfrm>
          <a:prstGeom prst="rect">
            <a:avLst/>
          </a:prstGeom>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a:xfrm>
            <a:off x="677334" y="6041362"/>
            <a:ext cx="6297612"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205133" y="6041362"/>
            <a:ext cx="911939" cy="365125"/>
          </a:xfrm>
          <a:prstGeom prst="rect">
            <a:avLst/>
          </a:prstGeom>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a:xfrm>
            <a:off x="677334" y="6041362"/>
            <a:ext cx="6297612"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a:xfrm>
            <a:off x="677334" y="6041362"/>
            <a:ext cx="6297612"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205133" y="6041362"/>
            <a:ext cx="911939" cy="365125"/>
          </a:xfrm>
          <a:prstGeom prst="rect">
            <a:avLst/>
          </a:prstGeom>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a:xfrm>
            <a:off x="677334" y="6041362"/>
            <a:ext cx="6297612"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205133" y="6041362"/>
            <a:ext cx="911939" cy="365125"/>
          </a:xfrm>
          <a:prstGeom prst="rect">
            <a:avLst/>
          </a:prstGeom>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a:xfrm>
            <a:off x="677334" y="6041362"/>
            <a:ext cx="6297612"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Footer Placeholder 7">
            <a:extLst>
              <a:ext uri="{FF2B5EF4-FFF2-40B4-BE49-F238E27FC236}">
                <a16:creationId xmlns:a16="http://schemas.microsoft.com/office/drawing/2014/main" id="{C55D16B4-FC5C-BA53-B357-4815FBE9B068}"/>
              </a:ext>
            </a:extLst>
          </p:cNvPr>
          <p:cNvSpPr>
            <a:spLocks noGrp="1"/>
          </p:cNvSpPr>
          <p:nvPr>
            <p:ph type="ftr" sz="quarter" idx="15"/>
          </p:nvPr>
        </p:nvSpPr>
        <p:spPr>
          <a:xfrm>
            <a:off x="677334" y="6041362"/>
            <a:ext cx="6297612" cy="365125"/>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6D1A64F3-6104-F527-07F9-0C051E44A4B9}"/>
              </a:ext>
            </a:extLst>
          </p:cNvPr>
          <p:cNvSpPr>
            <a:spLocks noGrp="1"/>
          </p:cNvSpPr>
          <p:nvPr>
            <p:ph type="sldNum" sz="quarter" idx="16"/>
          </p:nvPr>
        </p:nvSpPr>
        <p:spPr/>
        <p:txBody>
          <a:bodyPr/>
          <a:lstStyle/>
          <a:p>
            <a:fld id="{D57F1E4F-1CFF-5643-939E-217C01CDF565}" type="slidenum">
              <a:rPr lang="en-US" smtClean="0"/>
              <a:pPr/>
              <a:t>‹#›</a:t>
            </a:fld>
            <a:endParaRPr lang="en-US" dirty="0"/>
          </a:p>
        </p:txBody>
      </p:sp>
      <p:sp>
        <p:nvSpPr>
          <p:cNvPr id="12" name="Title 11">
            <a:extLst>
              <a:ext uri="{FF2B5EF4-FFF2-40B4-BE49-F238E27FC236}">
                <a16:creationId xmlns:a16="http://schemas.microsoft.com/office/drawing/2014/main" id="{2AC852D8-C151-F366-383E-BC46BA972307}"/>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9.xml"/><Relationship Id="rId5" Type="http://schemas.openxmlformats.org/officeDocument/2006/relationships/image" Target="../media/image15.png"/><Relationship Id="rId4" Type="http://schemas.openxmlformats.org/officeDocument/2006/relationships/image" Target="../media/image1.jfif"/></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9.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Soni-adi15/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947576" y="3218731"/>
            <a:ext cx="7326474" cy="1183121"/>
          </a:xfrm>
        </p:spPr>
        <p:txBody>
          <a:bodyPr vert="horz" lIns="91440" tIns="45720" rIns="91440" bIns="45720" rtlCol="0" anchor="t">
            <a:noAutofit/>
          </a:bodyPr>
          <a:lstStyle/>
          <a:p>
            <a:r>
              <a:rPr lang="en-IN" sz="2500" dirty="0">
                <a:solidFill>
                  <a:schemeClr val="tx2"/>
                </a:solidFill>
              </a:rPr>
              <a:t>Student Name – Aditya Prasad Soni</a:t>
            </a:r>
          </a:p>
          <a:p>
            <a:r>
              <a:rPr lang="en-IN" sz="2500" dirty="0">
                <a:solidFill>
                  <a:schemeClr val="tx2"/>
                </a:solidFill>
              </a:rPr>
              <a:t>College Name – Bikaner Technical University </a:t>
            </a:r>
          </a:p>
          <a:p>
            <a:pPr algn="r"/>
            <a:endParaRPr lang="en-IN" sz="2500"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876456" y="2639207"/>
            <a:ext cx="8623818" cy="599636"/>
          </a:xfrm>
        </p:spPr>
        <p:txBody>
          <a:bodyPr>
            <a:normAutofit fontScale="90000"/>
          </a:bodyPr>
          <a:lstStyle/>
          <a:p>
            <a:pPr algn="ctr"/>
            <a:r>
              <a:rPr lang="en-GB" sz="2500" b="1" dirty="0">
                <a:solidFill>
                  <a:schemeClr val="tx2"/>
                </a:solidFill>
              </a:rPr>
              <a:t>Project Title </a:t>
            </a:r>
            <a:r>
              <a:rPr lang="en-GB" sz="3200" b="1" dirty="0">
                <a:solidFill>
                  <a:schemeClr val="tx2"/>
                </a:solidFill>
              </a:rPr>
              <a:t>– </a:t>
            </a:r>
            <a:r>
              <a:rPr lang="en-IN" b="1" dirty="0">
                <a:solidFill>
                  <a:schemeClr val="tx2"/>
                </a:solidFill>
              </a:rPr>
              <a:t>Seasonal Agriculture Performance Analysis</a:t>
            </a:r>
            <a:endParaRPr lang="en-IN" sz="3200" b="1" dirty="0">
              <a:solidFill>
                <a:schemeClr val="tx2"/>
              </a:solidFill>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47576" y="4268074"/>
            <a:ext cx="8425542" cy="477054"/>
          </a:xfrm>
          <a:prstGeom prst="rect">
            <a:avLst/>
          </a:prstGeom>
          <a:noFill/>
        </p:spPr>
        <p:txBody>
          <a:bodyPr wrap="square" rtlCol="0">
            <a:spAutoFit/>
          </a:bodyPr>
          <a:lstStyle/>
          <a:p>
            <a:r>
              <a:rPr lang="en-US" sz="2500" b="1" dirty="0">
                <a:solidFill>
                  <a:schemeClr val="tx2"/>
                </a:solidFill>
              </a:rPr>
              <a:t>AICTE STU ID : STU684934dd8fe771749628125</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584517" y="1850482"/>
            <a:ext cx="6687820" cy="4344761"/>
          </a:xfrm>
        </p:spPr>
        <p:txBody>
          <a:bodyPr vert="horz" lIns="91440" tIns="45720" rIns="91440" bIns="45720" rtlCol="0" anchor="t">
            <a:noAutofit/>
          </a:bodyPr>
          <a:lstStyle/>
          <a:p>
            <a:pPr lvl="0"/>
            <a:r>
              <a:rPr lang="en-IN" b="1" dirty="0"/>
              <a:t>Seasonal variations</a:t>
            </a:r>
            <a:r>
              <a:rPr lang="en-IN" dirty="0"/>
              <a:t> in environmental conditions, farming practices, resource availability and market conditions can affect agricultural performance. </a:t>
            </a:r>
          </a:p>
          <a:p>
            <a:pPr lvl="0"/>
            <a:r>
              <a:rPr lang="en-IN" b="1" dirty="0"/>
              <a:t>Raw agricultural data</a:t>
            </a:r>
            <a:r>
              <a:rPr lang="en-IN" dirty="0"/>
              <a:t> does not clearly reveal how yield, profitability and resource usage vary across different seasons and farming conditions. </a:t>
            </a:r>
          </a:p>
          <a:p>
            <a:pPr lvl="0"/>
            <a:r>
              <a:rPr lang="en-IN" b="1" dirty="0"/>
              <a:t>The project aims</a:t>
            </a:r>
            <a:r>
              <a:rPr lang="en-IN" dirty="0"/>
              <a:t> to analyse the agricultural dataset and identify meaningful </a:t>
            </a:r>
            <a:r>
              <a:rPr lang="en-IN" b="1" dirty="0"/>
              <a:t>patterns, relationships, variations and performance differences</a:t>
            </a:r>
            <a:r>
              <a:rPr lang="en-IN" dirty="0"/>
              <a:t> across seasons, crops and farming practices.</a:t>
            </a:r>
          </a:p>
          <a:p>
            <a:endParaRPr lang="en-IN" b="1"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584517" y="354474"/>
            <a:ext cx="6995604" cy="790111"/>
          </a:xfrm>
        </p:spPr>
        <p:txBody>
          <a:bodyPr>
            <a:normAutofit/>
          </a:bodyPr>
          <a:lstStyle/>
          <a:p>
            <a:r>
              <a:rPr lang="en-US" sz="4300" dirty="0"/>
              <a:t>Problem Statement</a:t>
            </a:r>
            <a:endParaRPr lang="en-IN" sz="4300"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320379"/>
            <a:ext cx="8071803" cy="715677"/>
          </a:xfrm>
        </p:spPr>
        <p:txBody>
          <a:bodyPr>
            <a:noAutofit/>
          </a:bodyPr>
          <a:lstStyle/>
          <a:p>
            <a:r>
              <a:rPr lang="en-GB" sz="4300" dirty="0"/>
              <a:t>Project Description</a:t>
            </a:r>
            <a:br>
              <a:rPr lang="en-GB" sz="4800" dirty="0"/>
            </a:br>
            <a:br>
              <a:rPr lang="en-GB" sz="4800" dirty="0"/>
            </a:br>
            <a:br>
              <a:rPr lang="en-IN" sz="2800" dirty="0"/>
            </a:br>
            <a:br>
              <a:rPr lang="en-GB" sz="4800" dirty="0"/>
            </a:br>
            <a:endParaRPr lang="en-IN" sz="48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2" name="TextBox 11">
            <a:extLst>
              <a:ext uri="{FF2B5EF4-FFF2-40B4-BE49-F238E27FC236}">
                <a16:creationId xmlns:a16="http://schemas.microsoft.com/office/drawing/2014/main" id="{28D5076E-3BAA-4DE2-0CF7-ED3B6582C464}"/>
              </a:ext>
            </a:extLst>
          </p:cNvPr>
          <p:cNvSpPr txBox="1"/>
          <p:nvPr/>
        </p:nvSpPr>
        <p:spPr>
          <a:xfrm>
            <a:off x="675957" y="1332148"/>
            <a:ext cx="6242180" cy="5078313"/>
          </a:xfrm>
          <a:prstGeom prst="rect">
            <a:avLst/>
          </a:prstGeom>
          <a:noFill/>
        </p:spPr>
        <p:txBody>
          <a:bodyPr wrap="square" rtlCol="0">
            <a:spAutoFit/>
          </a:bodyPr>
          <a:lstStyle/>
          <a:p>
            <a:pPr marL="285750" indent="-285750">
              <a:buFont typeface="Arial" panose="020B0604020202020204" pitchFamily="34" charset="0"/>
              <a:buChar char="•"/>
            </a:pPr>
            <a:r>
              <a:rPr lang="en-IN" dirty="0"/>
              <a:t>The project focuses on analysing agricultural data to understand how crop performance varies across different seasons and farming conditions. The dataset contains farm-level information about crops, seasons, locations, environmental conditions, resource usage, yield, revenue, cost and profit.</a:t>
            </a:r>
          </a:p>
          <a:p>
            <a:endParaRPr lang="en-IN" dirty="0"/>
          </a:p>
          <a:p>
            <a:pPr marL="285750" indent="-285750">
              <a:buFont typeface="Arial" panose="020B0604020202020204" pitchFamily="34" charset="0"/>
              <a:buChar char="•"/>
            </a:pPr>
            <a:r>
              <a:rPr lang="en-IN" dirty="0"/>
              <a:t>The analysis involves data cleaning, descriptive statistics, data visualization and exploratory analysis to identify patterns and variations in the data. The project mainly examines seasonal and crop performance, irrigation and water efficiency, environmental factors, resource usage and profitability.</a:t>
            </a:r>
          </a:p>
          <a:p>
            <a:endParaRPr lang="en-IN" dirty="0"/>
          </a:p>
          <a:p>
            <a:pPr marL="285750" indent="-285750">
              <a:buFont typeface="Arial" panose="020B0604020202020204" pitchFamily="34" charset="0"/>
              <a:buChar char="•"/>
            </a:pPr>
            <a:r>
              <a:rPr lang="en-IN" dirty="0"/>
              <a:t>The main outcome of the project is to identify important patterns and relationships in agricultural performance and generate useful insights that can support better agricultural planning.</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620008" y="1819557"/>
            <a:ext cx="7904481" cy="4478692"/>
          </a:xfrm>
        </p:spPr>
        <p:txBody>
          <a:bodyPr>
            <a:normAutofit/>
          </a:bodyPr>
          <a:lstStyle/>
          <a:p>
            <a:r>
              <a:rPr lang="en-IN" b="1" dirty="0"/>
              <a:t>Farmers / Farm Managers</a:t>
            </a:r>
            <a:br>
              <a:rPr lang="en-IN" dirty="0"/>
            </a:br>
            <a:r>
              <a:rPr lang="en-IN" dirty="0"/>
              <a:t>Use crop, season and irrigation performance insights for better planning.</a:t>
            </a:r>
          </a:p>
          <a:p>
            <a:r>
              <a:rPr lang="en-IN" b="1" dirty="0"/>
              <a:t>Agricultural Planners</a:t>
            </a:r>
            <a:br>
              <a:rPr lang="en-IN" dirty="0"/>
            </a:br>
            <a:r>
              <a:rPr lang="en-IN" dirty="0"/>
              <a:t>Compare seasonal and crop performance to support agricultural planning.</a:t>
            </a:r>
          </a:p>
          <a:p>
            <a:r>
              <a:rPr lang="en-IN" b="1" dirty="0"/>
              <a:t>Agricultural Analysts / Researchers</a:t>
            </a:r>
            <a:br>
              <a:rPr lang="en-IN" dirty="0"/>
            </a:br>
            <a:r>
              <a:rPr lang="en-IN" dirty="0"/>
              <a:t>Study relationships between yield, environmental conditions, resources and profitability.</a:t>
            </a:r>
          </a:p>
          <a:p>
            <a:r>
              <a:rPr lang="en-IN" b="1" dirty="0"/>
              <a:t>Students / Data Analysts</a:t>
            </a:r>
            <a:br>
              <a:rPr lang="en-IN" dirty="0"/>
            </a:br>
            <a:r>
              <a:rPr lang="en-IN" dirty="0"/>
              <a:t>Use the analysis as an example of applying data analysis and visualization to agricultural data.</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559751"/>
            <a:ext cx="7904481" cy="802641"/>
          </a:xfrm>
        </p:spPr>
        <p:txBody>
          <a:bodyPr>
            <a:normAutofit/>
          </a:bodyPr>
          <a:lstStyle/>
          <a:p>
            <a:r>
              <a:rPr lang="en-US" sz="4300" dirty="0"/>
              <a:t>Who Are The End Users?</a:t>
            </a:r>
            <a:endParaRPr lang="en-IN" sz="43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0" y="3847976"/>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695257" y="1243874"/>
            <a:ext cx="8801486" cy="5324793"/>
          </a:xfrm>
        </p:spPr>
        <p:txBody>
          <a:bodyPr>
            <a:normAutofit/>
          </a:bodyPr>
          <a:lstStyle/>
          <a:p>
            <a:pPr lvl="0"/>
            <a:r>
              <a:rPr lang="en-IN" b="1" dirty="0"/>
              <a:t>Python</a:t>
            </a:r>
            <a:r>
              <a:rPr lang="en-IN" dirty="0"/>
              <a:t> — Programming &amp; Analysis </a:t>
            </a:r>
          </a:p>
          <a:p>
            <a:pPr lvl="0"/>
            <a:r>
              <a:rPr lang="en-IN" b="1" dirty="0"/>
              <a:t>Pandas</a:t>
            </a:r>
            <a:r>
              <a:rPr lang="en-IN" dirty="0"/>
              <a:t> — Data Cleaning &amp; Manipulation </a:t>
            </a:r>
          </a:p>
          <a:p>
            <a:pPr lvl="0"/>
            <a:r>
              <a:rPr lang="en-IN" b="1" dirty="0"/>
              <a:t>NumPy</a:t>
            </a:r>
            <a:r>
              <a:rPr lang="en-IN" dirty="0"/>
              <a:t> — Numerical Analysis </a:t>
            </a:r>
          </a:p>
          <a:p>
            <a:pPr lvl="0"/>
            <a:r>
              <a:rPr lang="en-IN" b="1" dirty="0"/>
              <a:t>Matplotlib</a:t>
            </a:r>
            <a:r>
              <a:rPr lang="en-IN" dirty="0"/>
              <a:t> — Data Visualization </a:t>
            </a:r>
          </a:p>
          <a:p>
            <a:pPr lvl="0"/>
            <a:r>
              <a:rPr lang="en-IN" b="1" dirty="0"/>
              <a:t>Seaborn</a:t>
            </a:r>
            <a:r>
              <a:rPr lang="en-IN" dirty="0"/>
              <a:t> — Statistical Visualization </a:t>
            </a:r>
          </a:p>
          <a:p>
            <a:pPr lvl="0"/>
            <a:r>
              <a:rPr lang="en-IN" b="1" dirty="0"/>
              <a:t>Google </a:t>
            </a:r>
            <a:r>
              <a:rPr lang="en-IN" b="1" dirty="0" err="1"/>
              <a:t>Colab</a:t>
            </a:r>
            <a:r>
              <a:rPr lang="en-IN" dirty="0"/>
              <a:t> — Development &amp; Execution Environment</a:t>
            </a:r>
          </a:p>
          <a:p>
            <a:pPr marL="457200" lvl="1" indent="0">
              <a:lnSpc>
                <a:spcPct val="100000"/>
              </a:lnSpc>
              <a:buNone/>
            </a:pPr>
            <a:endParaRPr lang="en-IN" b="1"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1695257" y="244610"/>
            <a:ext cx="5306291" cy="847817"/>
          </a:xfrm>
        </p:spPr>
        <p:txBody>
          <a:bodyPr>
            <a:normAutofit/>
          </a:bodyPr>
          <a:lstStyle/>
          <a:p>
            <a:r>
              <a:rPr lang="en-US" sz="4300" b="0" dirty="0">
                <a:solidFill>
                  <a:schemeClr val="accent1"/>
                </a:solidFill>
              </a:rPr>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2356F361-DB9C-4716-8572-8E67E9AB4D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56" name="Straight Connector 55">
              <a:extLst>
                <a:ext uri="{FF2B5EF4-FFF2-40B4-BE49-F238E27FC236}">
                  <a16:creationId xmlns:a16="http://schemas.microsoft.com/office/drawing/2014/main" id="{E6FF2CA3-6D93-438A-AA13-5844C345F80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D6C7FF8-C6AA-493F-BF62-FC52DE27708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58" name="Rectangle 23">
              <a:extLst>
                <a:ext uri="{FF2B5EF4-FFF2-40B4-BE49-F238E27FC236}">
                  <a16:creationId xmlns:a16="http://schemas.microsoft.com/office/drawing/2014/main" id="{215DAE39-2187-4AA8-8703-0F2B3BCFE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59" name="Rectangle 25">
              <a:extLst>
                <a:ext uri="{FF2B5EF4-FFF2-40B4-BE49-F238E27FC236}">
                  <a16:creationId xmlns:a16="http://schemas.microsoft.com/office/drawing/2014/main" id="{1D0826C5-89FD-49A0-9E8F-19DA04FE6F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60" name="Isosceles Triangle 59">
              <a:extLst>
                <a:ext uri="{FF2B5EF4-FFF2-40B4-BE49-F238E27FC236}">
                  <a16:creationId xmlns:a16="http://schemas.microsoft.com/office/drawing/2014/main" id="{CE0557FD-5B6C-4875-9EA4-18DAD6258B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61" name="Rectangle 27">
              <a:extLst>
                <a:ext uri="{FF2B5EF4-FFF2-40B4-BE49-F238E27FC236}">
                  <a16:creationId xmlns:a16="http://schemas.microsoft.com/office/drawing/2014/main" id="{55C096D6-25B6-418D-8FFF-894AC5FB60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62" name="Rectangle 28">
              <a:extLst>
                <a:ext uri="{FF2B5EF4-FFF2-40B4-BE49-F238E27FC236}">
                  <a16:creationId xmlns:a16="http://schemas.microsoft.com/office/drawing/2014/main" id="{4480C8B4-C2F4-427B-B03E-ABF3C9AF19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63" name="Rectangle 29">
              <a:extLst>
                <a:ext uri="{FF2B5EF4-FFF2-40B4-BE49-F238E27FC236}">
                  <a16:creationId xmlns:a16="http://schemas.microsoft.com/office/drawing/2014/main" id="{E767DA1E-BBBF-419C-8E95-8393DA0F72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64" name="Isosceles Triangle 63">
              <a:extLst>
                <a:ext uri="{FF2B5EF4-FFF2-40B4-BE49-F238E27FC236}">
                  <a16:creationId xmlns:a16="http://schemas.microsoft.com/office/drawing/2014/main" id="{D88EF27D-D851-4A85-942B-DC69237C8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65" name="Isosceles Triangle 64">
              <a:extLst>
                <a:ext uri="{FF2B5EF4-FFF2-40B4-BE49-F238E27FC236}">
                  <a16:creationId xmlns:a16="http://schemas.microsoft.com/office/drawing/2014/main" id="{808DF878-FD48-4C53-8A3A-4636F450E3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420247" y="210220"/>
            <a:ext cx="4693120" cy="1246550"/>
          </a:xfrm>
        </p:spPr>
        <p:txBody>
          <a:bodyPr vert="horz" lIns="91440" tIns="45720" rIns="91440" bIns="45720" rtlCol="0" anchor="ctr">
            <a:normAutofit/>
          </a:bodyPr>
          <a:lstStyle/>
          <a:p>
            <a:r>
              <a:rPr lang="en-IN" sz="2400" dirty="0">
                <a:solidFill>
                  <a:schemeClr val="accent1"/>
                </a:solidFill>
              </a:rPr>
              <a:t>Result 1 — Seasonal Performance</a:t>
            </a:r>
            <a:endParaRPr lang="en-US" sz="2400" dirty="0">
              <a:solidFill>
                <a:schemeClr val="accent1"/>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743160" y="1608410"/>
            <a:ext cx="2930517" cy="3880773"/>
          </a:xfrm>
        </p:spPr>
        <p:txBody>
          <a:bodyPr vert="horz" lIns="91440" tIns="45720" rIns="91440" bIns="45720" rtlCol="0">
            <a:normAutofit/>
          </a:bodyPr>
          <a:lstStyle/>
          <a:p>
            <a:pPr marL="0" indent="0">
              <a:buClr>
                <a:schemeClr val="accent1"/>
              </a:buClr>
              <a:buNone/>
            </a:pPr>
            <a:r>
              <a:rPr lang="en-US" b="1" dirty="0"/>
              <a:t>Key Findings</a:t>
            </a:r>
          </a:p>
          <a:p>
            <a:pPr lvl="0">
              <a:buClr>
                <a:schemeClr val="accent1"/>
              </a:buClr>
              <a:buFont typeface="Wingdings 3" charset="2"/>
              <a:buChar char=""/>
            </a:pPr>
            <a:r>
              <a:rPr lang="en-US" sz="1800" b="1" dirty="0"/>
              <a:t>Kharif recorded the highest average yield of 5.64 </a:t>
            </a:r>
            <a:r>
              <a:rPr lang="en-US" sz="1800" b="1" dirty="0" err="1"/>
              <a:t>tonnes</a:t>
            </a:r>
            <a:r>
              <a:rPr lang="en-US" sz="1800" b="1" dirty="0"/>
              <a:t>/ha. </a:t>
            </a:r>
          </a:p>
          <a:p>
            <a:pPr lvl="0">
              <a:buClr>
                <a:schemeClr val="accent1"/>
              </a:buClr>
              <a:buFont typeface="Wingdings 3" charset="2"/>
              <a:buChar char=""/>
            </a:pPr>
            <a:r>
              <a:rPr lang="en-US" sz="1800" b="1" dirty="0"/>
              <a:t>Kharif recorded the highest average profit of ₹179,367</a:t>
            </a:r>
          </a:p>
          <a:p>
            <a:pPr lvl="0">
              <a:buClr>
                <a:schemeClr val="accent1"/>
              </a:buClr>
              <a:buFont typeface="Wingdings 3" charset="2"/>
              <a:buChar char=""/>
            </a:pPr>
            <a:r>
              <a:rPr lang="en-US" sz="1800" b="1" dirty="0"/>
              <a:t>Kharif outperformed Rabi and Zaid in both average yield and profit.</a:t>
            </a:r>
          </a:p>
        </p:txBody>
      </p:sp>
      <p:pic>
        <p:nvPicPr>
          <p:cNvPr id="3" name="Picture 2">
            <a:extLst>
              <a:ext uri="{FF2B5EF4-FFF2-40B4-BE49-F238E27FC236}">
                <a16:creationId xmlns:a16="http://schemas.microsoft.com/office/drawing/2014/main" id="{9111AC39-1885-0440-502C-D2CC454E4C52}"/>
              </a:ext>
            </a:extLst>
          </p:cNvPr>
          <p:cNvPicPr>
            <a:picLocks noChangeAspect="1"/>
          </p:cNvPicPr>
          <p:nvPr/>
        </p:nvPicPr>
        <p:blipFill>
          <a:blip r:embed="rId2"/>
          <a:stretch>
            <a:fillRect/>
          </a:stretch>
        </p:blipFill>
        <p:spPr>
          <a:xfrm>
            <a:off x="5165898" y="210220"/>
            <a:ext cx="4063539" cy="3010624"/>
          </a:xfrm>
          <a:prstGeom prst="rect">
            <a:avLst/>
          </a:prstGeom>
        </p:spPr>
      </p:pic>
      <p:pic>
        <p:nvPicPr>
          <p:cNvPr id="9" name="Picture 8">
            <a:extLst>
              <a:ext uri="{FF2B5EF4-FFF2-40B4-BE49-F238E27FC236}">
                <a16:creationId xmlns:a16="http://schemas.microsoft.com/office/drawing/2014/main" id="{040D9330-9327-1F84-6B19-F20EDE19A6DC}"/>
              </a:ext>
            </a:extLst>
          </p:cNvPr>
          <p:cNvPicPr>
            <a:picLocks noChangeAspect="1"/>
          </p:cNvPicPr>
          <p:nvPr/>
        </p:nvPicPr>
        <p:blipFill>
          <a:blip r:embed="rId3"/>
          <a:stretch>
            <a:fillRect/>
          </a:stretch>
        </p:blipFill>
        <p:spPr>
          <a:xfrm>
            <a:off x="5180743" y="3548796"/>
            <a:ext cx="4055798" cy="3010624"/>
          </a:xfrm>
          <a:prstGeom prst="rect">
            <a:avLst/>
          </a:prstGeom>
        </p:spPr>
      </p:pic>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49139" y="942332"/>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2" name="TextBox 11">
            <a:extLst>
              <a:ext uri="{FF2B5EF4-FFF2-40B4-BE49-F238E27FC236}">
                <a16:creationId xmlns:a16="http://schemas.microsoft.com/office/drawing/2014/main" id="{59F075AE-CEE7-64D9-6FEF-D722D4C4070C}"/>
              </a:ext>
            </a:extLst>
          </p:cNvPr>
          <p:cNvSpPr txBox="1"/>
          <p:nvPr/>
        </p:nvSpPr>
        <p:spPr>
          <a:xfrm>
            <a:off x="1931437" y="6559420"/>
            <a:ext cx="184731" cy="369332"/>
          </a:xfrm>
          <a:prstGeom prst="rect">
            <a:avLst/>
          </a:prstGeom>
          <a:noFill/>
        </p:spPr>
        <p:txBody>
          <a:bodyPr wrap="none" rtlCol="0">
            <a:spAutoFit/>
          </a:bodyPr>
          <a:lstStyle/>
          <a:p>
            <a:endParaRPr lang="en-IN"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build="p"/>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grpSp>
        <p:nvGrpSpPr>
          <p:cNvPr id="44" name="Group 43">
            <a:extLst>
              <a:ext uri="{FF2B5EF4-FFF2-40B4-BE49-F238E27FC236}">
                <a16:creationId xmlns:a16="http://schemas.microsoft.com/office/drawing/2014/main" id="{35FF5354-2C21-4C42-964D-C5A3BFB347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33" name="Straight Connector 32">
              <a:extLst>
                <a:ext uri="{FF2B5EF4-FFF2-40B4-BE49-F238E27FC236}">
                  <a16:creationId xmlns:a16="http://schemas.microsoft.com/office/drawing/2014/main" id="{46C38D4D-417B-4289-8748-EB3B8A6B275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B948EC66-FDA9-4F74-9761-4F87538F2F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45" name="Rectangle 23">
              <a:extLst>
                <a:ext uri="{FF2B5EF4-FFF2-40B4-BE49-F238E27FC236}">
                  <a16:creationId xmlns:a16="http://schemas.microsoft.com/office/drawing/2014/main" id="{D6647D0E-FFC9-49A5-8570-9A48A5FC1F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6" name="Rectangle 25">
              <a:extLst>
                <a:ext uri="{FF2B5EF4-FFF2-40B4-BE49-F238E27FC236}">
                  <a16:creationId xmlns:a16="http://schemas.microsoft.com/office/drawing/2014/main" id="{D9349D3D-AD9F-4DF7-BEAF-B8D305ADEC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7" name="Isosceles Triangle 46">
              <a:extLst>
                <a:ext uri="{FF2B5EF4-FFF2-40B4-BE49-F238E27FC236}">
                  <a16:creationId xmlns:a16="http://schemas.microsoft.com/office/drawing/2014/main" id="{38877D2F-B440-4031-959F-4E87505201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8" name="Rectangle 27">
              <a:extLst>
                <a:ext uri="{FF2B5EF4-FFF2-40B4-BE49-F238E27FC236}">
                  <a16:creationId xmlns:a16="http://schemas.microsoft.com/office/drawing/2014/main" id="{869BE8DA-4049-4B08-ABD6-16F8C0262E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9" name="Rectangle 28">
              <a:extLst>
                <a:ext uri="{FF2B5EF4-FFF2-40B4-BE49-F238E27FC236}">
                  <a16:creationId xmlns:a16="http://schemas.microsoft.com/office/drawing/2014/main" id="{4B4446B5-237B-4328-A1D2-C2525EA3ED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50" name="Rectangle 29">
              <a:extLst>
                <a:ext uri="{FF2B5EF4-FFF2-40B4-BE49-F238E27FC236}">
                  <a16:creationId xmlns:a16="http://schemas.microsoft.com/office/drawing/2014/main" id="{DE559DAC-EDB8-425E-A5FD-40E3070351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51" name="Isosceles Triangle 50">
              <a:extLst>
                <a:ext uri="{FF2B5EF4-FFF2-40B4-BE49-F238E27FC236}">
                  <a16:creationId xmlns:a16="http://schemas.microsoft.com/office/drawing/2014/main" id="{68DEB9B7-ED80-41EB-9218-3B47B52596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52" name="Isosceles Triangle 51">
              <a:extLst>
                <a:ext uri="{FF2B5EF4-FFF2-40B4-BE49-F238E27FC236}">
                  <a16:creationId xmlns:a16="http://schemas.microsoft.com/office/drawing/2014/main" id="{9CBBD20C-6115-44EF-8CD6-A3F66D20D7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28130" y="399154"/>
            <a:ext cx="4483950" cy="1320800"/>
          </a:xfrm>
        </p:spPr>
        <p:txBody>
          <a:bodyPr vert="horz" lIns="91440" tIns="45720" rIns="91440" bIns="45720" rtlCol="0" anchor="ctr">
            <a:normAutofit/>
          </a:bodyPr>
          <a:lstStyle/>
          <a:p>
            <a:r>
              <a:rPr lang="en-IN" sz="2400" dirty="0">
                <a:solidFill>
                  <a:schemeClr val="accent1"/>
                </a:solidFill>
              </a:rPr>
              <a:t>Result 2 — Crop &amp; Season Performance</a:t>
            </a:r>
            <a:endParaRPr lang="en-US" sz="2400" dirty="0">
              <a:solidFill>
                <a:schemeClr val="accent1"/>
              </a:solidFill>
            </a:endParaRPr>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683100" y="1793833"/>
            <a:ext cx="2930517" cy="3880773"/>
          </a:xfrm>
        </p:spPr>
        <p:txBody>
          <a:bodyPr vert="horz" lIns="91440" tIns="45720" rIns="91440" bIns="45720" rtlCol="0">
            <a:normAutofit/>
          </a:bodyPr>
          <a:lstStyle/>
          <a:p>
            <a:pPr marL="0" indent="0">
              <a:lnSpc>
                <a:spcPct val="90000"/>
              </a:lnSpc>
              <a:buClr>
                <a:schemeClr val="accent1"/>
              </a:buClr>
              <a:buNone/>
            </a:pPr>
            <a:r>
              <a:rPr lang="en-US" b="1" dirty="0"/>
              <a:t>Key Findings</a:t>
            </a:r>
            <a:endParaRPr lang="en-US" dirty="0"/>
          </a:p>
          <a:p>
            <a:pPr lvl="0">
              <a:lnSpc>
                <a:spcPct val="90000"/>
              </a:lnSpc>
              <a:buClr>
                <a:schemeClr val="accent1"/>
              </a:buClr>
              <a:buFont typeface="Wingdings 3" charset="2"/>
              <a:buChar char=""/>
            </a:pPr>
            <a:r>
              <a:rPr lang="en-US" sz="1800" b="1" dirty="0"/>
              <a:t>Sugarcane showed the highest average yield across all three seasons. </a:t>
            </a:r>
          </a:p>
          <a:p>
            <a:pPr lvl="0">
              <a:lnSpc>
                <a:spcPct val="90000"/>
              </a:lnSpc>
              <a:buClr>
                <a:schemeClr val="accent1"/>
              </a:buClr>
              <a:buFont typeface="Wingdings 3" charset="2"/>
              <a:buChar char=""/>
            </a:pPr>
            <a:r>
              <a:rPr lang="en-US" sz="1800" b="1" dirty="0"/>
              <a:t>Sugarcane yield was highest in Kharif (53.46 </a:t>
            </a:r>
            <a:r>
              <a:rPr lang="en-US" sz="1800" b="1" dirty="0" err="1"/>
              <a:t>tonnes</a:t>
            </a:r>
            <a:r>
              <a:rPr lang="en-US" sz="1800" b="1" dirty="0"/>
              <a:t>/ha). </a:t>
            </a:r>
          </a:p>
          <a:p>
            <a:pPr lvl="0">
              <a:lnSpc>
                <a:spcPct val="90000"/>
              </a:lnSpc>
              <a:buClr>
                <a:schemeClr val="accent1"/>
              </a:buClr>
              <a:buFont typeface="Wingdings 3" charset="2"/>
              <a:buChar char=""/>
            </a:pPr>
            <a:r>
              <a:rPr lang="en-US" sz="1800" b="1" dirty="0"/>
              <a:t>Crop performance varies across seasons, highlighting the importance of crop-season comparison.</a:t>
            </a:r>
          </a:p>
          <a:p>
            <a:pPr marL="0" indent="0">
              <a:lnSpc>
                <a:spcPct val="90000"/>
              </a:lnSpc>
              <a:buClr>
                <a:schemeClr val="accent1"/>
              </a:buClr>
              <a:buFont typeface="Wingdings 3" charset="2"/>
              <a:buChar char=""/>
            </a:pPr>
            <a:endParaRPr lang="en-US" sz="1700" dirty="0"/>
          </a:p>
        </p:txBody>
      </p:sp>
      <p:pic>
        <p:nvPicPr>
          <p:cNvPr id="12" name="Picture 11">
            <a:extLst>
              <a:ext uri="{FF2B5EF4-FFF2-40B4-BE49-F238E27FC236}">
                <a16:creationId xmlns:a16="http://schemas.microsoft.com/office/drawing/2014/main" id="{AABE1EB2-43E0-14EA-6329-B8383352E241}"/>
              </a:ext>
            </a:extLst>
          </p:cNvPr>
          <p:cNvPicPr>
            <a:picLocks noChangeAspect="1"/>
          </p:cNvPicPr>
          <p:nvPr/>
        </p:nvPicPr>
        <p:blipFill>
          <a:blip r:embed="rId2"/>
          <a:stretch>
            <a:fillRect/>
          </a:stretch>
        </p:blipFill>
        <p:spPr>
          <a:xfrm>
            <a:off x="5341134" y="596735"/>
            <a:ext cx="3382234" cy="2174939"/>
          </a:xfrm>
          <a:prstGeom prst="rect">
            <a:avLst/>
          </a:prstGeom>
        </p:spPr>
      </p:pic>
      <p:pic>
        <p:nvPicPr>
          <p:cNvPr id="3" name="Picture 2">
            <a:extLst>
              <a:ext uri="{FF2B5EF4-FFF2-40B4-BE49-F238E27FC236}">
                <a16:creationId xmlns:a16="http://schemas.microsoft.com/office/drawing/2014/main" id="{1E562287-225F-94A0-47DF-70CCACA4717E}"/>
              </a:ext>
            </a:extLst>
          </p:cNvPr>
          <p:cNvPicPr>
            <a:picLocks noChangeAspect="1"/>
          </p:cNvPicPr>
          <p:nvPr/>
        </p:nvPicPr>
        <p:blipFill>
          <a:blip r:embed="rId3"/>
          <a:stretch>
            <a:fillRect/>
          </a:stretch>
        </p:blipFill>
        <p:spPr>
          <a:xfrm>
            <a:off x="3893473" y="3177649"/>
            <a:ext cx="5110852" cy="3197543"/>
          </a:xfrm>
          <a:prstGeom prst="rect">
            <a:avLst/>
          </a:prstGeom>
        </p:spPr>
      </p:pic>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248725" y="1018127"/>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809392" y="1053876"/>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build="p"/>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grpSp>
        <p:nvGrpSpPr>
          <p:cNvPr id="57" name="Group 56">
            <a:extLst>
              <a:ext uri="{FF2B5EF4-FFF2-40B4-BE49-F238E27FC236}">
                <a16:creationId xmlns:a16="http://schemas.microsoft.com/office/drawing/2014/main" id="{35FF5354-2C21-4C42-964D-C5A3BFB347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58" name="Straight Connector 57">
              <a:extLst>
                <a:ext uri="{FF2B5EF4-FFF2-40B4-BE49-F238E27FC236}">
                  <a16:creationId xmlns:a16="http://schemas.microsoft.com/office/drawing/2014/main" id="{46C38D4D-417B-4289-8748-EB3B8A6B275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B948EC66-FDA9-4F74-9761-4F87538F2F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60" name="Rectangle 23">
              <a:extLst>
                <a:ext uri="{FF2B5EF4-FFF2-40B4-BE49-F238E27FC236}">
                  <a16:creationId xmlns:a16="http://schemas.microsoft.com/office/drawing/2014/main" id="{D6647D0E-FFC9-49A5-8570-9A48A5FC1F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61" name="Rectangle 25">
              <a:extLst>
                <a:ext uri="{FF2B5EF4-FFF2-40B4-BE49-F238E27FC236}">
                  <a16:creationId xmlns:a16="http://schemas.microsoft.com/office/drawing/2014/main" id="{D9349D3D-AD9F-4DF7-BEAF-B8D305ADEC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62" name="Isosceles Triangle 61">
              <a:extLst>
                <a:ext uri="{FF2B5EF4-FFF2-40B4-BE49-F238E27FC236}">
                  <a16:creationId xmlns:a16="http://schemas.microsoft.com/office/drawing/2014/main" id="{38877D2F-B440-4031-959F-4E87505201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63" name="Rectangle 27">
              <a:extLst>
                <a:ext uri="{FF2B5EF4-FFF2-40B4-BE49-F238E27FC236}">
                  <a16:creationId xmlns:a16="http://schemas.microsoft.com/office/drawing/2014/main" id="{869BE8DA-4049-4B08-ABD6-16F8C0262E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64" name="Rectangle 28">
              <a:extLst>
                <a:ext uri="{FF2B5EF4-FFF2-40B4-BE49-F238E27FC236}">
                  <a16:creationId xmlns:a16="http://schemas.microsoft.com/office/drawing/2014/main" id="{4B4446B5-237B-4328-A1D2-C2525EA3ED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65" name="Rectangle 29">
              <a:extLst>
                <a:ext uri="{FF2B5EF4-FFF2-40B4-BE49-F238E27FC236}">
                  <a16:creationId xmlns:a16="http://schemas.microsoft.com/office/drawing/2014/main" id="{DE559DAC-EDB8-425E-A5FD-40E3070351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66" name="Isosceles Triangle 65">
              <a:extLst>
                <a:ext uri="{FF2B5EF4-FFF2-40B4-BE49-F238E27FC236}">
                  <a16:creationId xmlns:a16="http://schemas.microsoft.com/office/drawing/2014/main" id="{68DEB9B7-ED80-41EB-9218-3B47B52596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67" name="Isosceles Triangle 66">
              <a:extLst>
                <a:ext uri="{FF2B5EF4-FFF2-40B4-BE49-F238E27FC236}">
                  <a16:creationId xmlns:a16="http://schemas.microsoft.com/office/drawing/2014/main" id="{9CBBD20C-6115-44EF-8CD6-A3F66D20D7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273047" y="308005"/>
            <a:ext cx="5652540" cy="1028005"/>
          </a:xfrm>
        </p:spPr>
        <p:txBody>
          <a:bodyPr vert="horz" lIns="91440" tIns="45720" rIns="91440" bIns="45720" rtlCol="0" anchor="t">
            <a:noAutofit/>
          </a:bodyPr>
          <a:lstStyle/>
          <a:p>
            <a:r>
              <a:rPr lang="en-US" sz="2400" dirty="0"/>
              <a:t>Result 3 — Environmental Conditions &amp; Yield</a:t>
            </a:r>
          </a:p>
        </p:txBody>
      </p:sp>
      <p:pic>
        <p:nvPicPr>
          <p:cNvPr id="28" name="Picture 27">
            <a:extLst>
              <a:ext uri="{FF2B5EF4-FFF2-40B4-BE49-F238E27FC236}">
                <a16:creationId xmlns:a16="http://schemas.microsoft.com/office/drawing/2014/main" id="{1D9D36FF-5EEF-4F02-7F3A-0DF44251E9E7}"/>
              </a:ext>
            </a:extLst>
          </p:cNvPr>
          <p:cNvPicPr>
            <a:picLocks noChangeAspect="1"/>
          </p:cNvPicPr>
          <p:nvPr/>
        </p:nvPicPr>
        <p:blipFill>
          <a:blip r:embed="rId2"/>
          <a:stretch>
            <a:fillRect/>
          </a:stretch>
        </p:blipFill>
        <p:spPr>
          <a:xfrm>
            <a:off x="5981577" y="282066"/>
            <a:ext cx="3349749" cy="1326344"/>
          </a:xfrm>
          <a:prstGeom prst="rect">
            <a:avLst/>
          </a:prstGeom>
        </p:spPr>
      </p:pic>
      <p:pic>
        <p:nvPicPr>
          <p:cNvPr id="14" name="Picture 13">
            <a:extLst>
              <a:ext uri="{FF2B5EF4-FFF2-40B4-BE49-F238E27FC236}">
                <a16:creationId xmlns:a16="http://schemas.microsoft.com/office/drawing/2014/main" id="{9A76FB77-9D04-5FCB-B28C-89B199F5ACEF}"/>
              </a:ext>
            </a:extLst>
          </p:cNvPr>
          <p:cNvPicPr>
            <a:picLocks noChangeAspect="1"/>
          </p:cNvPicPr>
          <p:nvPr/>
        </p:nvPicPr>
        <p:blipFill>
          <a:blip r:embed="rId3"/>
          <a:stretch>
            <a:fillRect/>
          </a:stretch>
        </p:blipFill>
        <p:spPr>
          <a:xfrm>
            <a:off x="5394961" y="3745653"/>
            <a:ext cx="3783342" cy="3056467"/>
          </a:xfrm>
          <a:prstGeom prst="rect">
            <a:avLst/>
          </a:prstGeom>
        </p:spPr>
      </p:pic>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323648" y="1269176"/>
            <a:ext cx="6473361" cy="4496936"/>
          </a:xfrm>
        </p:spPr>
        <p:txBody>
          <a:bodyPr vert="horz" lIns="91440" tIns="45720" rIns="91440" bIns="45720" rtlCol="0">
            <a:normAutofit/>
          </a:bodyPr>
          <a:lstStyle/>
          <a:p>
            <a:pPr marL="0" indent="0">
              <a:buClr>
                <a:schemeClr val="accent1"/>
              </a:buClr>
              <a:buFont typeface="Wingdings 3" charset="2"/>
              <a:buChar char=""/>
            </a:pPr>
            <a:r>
              <a:rPr lang="en-US" b="1" dirty="0"/>
              <a:t>Key Findings</a:t>
            </a:r>
          </a:p>
          <a:p>
            <a:pPr lvl="0">
              <a:buClr>
                <a:schemeClr val="accent1"/>
              </a:buClr>
              <a:buFont typeface="Wingdings 3" charset="2"/>
              <a:buChar char=""/>
            </a:pPr>
            <a:r>
              <a:rPr lang="en-US" b="1" dirty="0"/>
              <a:t>Environmental variables show weak correlations with yield in the observed dataset.</a:t>
            </a:r>
            <a:r>
              <a:rPr lang="en-US" dirty="0"/>
              <a:t> </a:t>
            </a:r>
          </a:p>
          <a:p>
            <a:pPr lvl="0">
              <a:buClr>
                <a:schemeClr val="accent1"/>
              </a:buClr>
              <a:buFont typeface="Wingdings 3" charset="2"/>
              <a:buChar char=""/>
            </a:pPr>
            <a:r>
              <a:rPr lang="en-US" b="1" dirty="0"/>
              <a:t>Rainfall shows the strongest positive correlation with yield among the environmental variables (r ≈ 0.03).</a:t>
            </a:r>
          </a:p>
          <a:p>
            <a:pPr lvl="0">
              <a:buClr>
                <a:schemeClr val="accent1"/>
              </a:buClr>
              <a:buFont typeface="Wingdings 3" charset="2"/>
              <a:buChar char=""/>
            </a:pPr>
            <a:r>
              <a:rPr lang="en-US" b="1" dirty="0"/>
              <a:t>The observed relationships indicate association, not causation.</a:t>
            </a:r>
            <a:endParaRPr lang="en-US" dirty="0"/>
          </a:p>
          <a:p>
            <a:pPr marL="0" indent="0">
              <a:buClr>
                <a:schemeClr val="accent1"/>
              </a:buClr>
              <a:buFont typeface="Wingdings 3" charset="2"/>
              <a:buChar char=""/>
            </a:pPr>
            <a:endParaRPr lang="en-US"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466104" y="1306942"/>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5" name="Picture 34">
            <a:extLst>
              <a:ext uri="{FF2B5EF4-FFF2-40B4-BE49-F238E27FC236}">
                <a16:creationId xmlns:a16="http://schemas.microsoft.com/office/drawing/2014/main" id="{D64BECE8-B3F1-3F35-A8B3-08C705D1CF5D}"/>
              </a:ext>
            </a:extLst>
          </p:cNvPr>
          <p:cNvPicPr>
            <a:picLocks noChangeAspect="1"/>
          </p:cNvPicPr>
          <p:nvPr/>
        </p:nvPicPr>
        <p:blipFill>
          <a:blip r:embed="rId4"/>
          <a:stretch>
            <a:fillRect/>
          </a:stretch>
        </p:blipFill>
        <p:spPr>
          <a:xfrm>
            <a:off x="448733" y="4183916"/>
            <a:ext cx="4101430" cy="2503368"/>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build="p"/>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grpSp>
        <p:nvGrpSpPr>
          <p:cNvPr id="34" name="Group 33">
            <a:extLst>
              <a:ext uri="{FF2B5EF4-FFF2-40B4-BE49-F238E27FC236}">
                <a16:creationId xmlns:a16="http://schemas.microsoft.com/office/drawing/2014/main" id="{9FF4CE55-074C-45F7-8B47-9EA922C09F3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35" name="Straight Connector 34">
              <a:extLst>
                <a:ext uri="{FF2B5EF4-FFF2-40B4-BE49-F238E27FC236}">
                  <a16:creationId xmlns:a16="http://schemas.microsoft.com/office/drawing/2014/main" id="{1B693FD7-9DFC-424A-B2BF-67C37B10CE4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D22611FC-7703-4A83-B7A2-96A0CA9DEA8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7" name="Rectangle 23">
              <a:extLst>
                <a:ext uri="{FF2B5EF4-FFF2-40B4-BE49-F238E27FC236}">
                  <a16:creationId xmlns:a16="http://schemas.microsoft.com/office/drawing/2014/main" id="{EC590B4F-359C-4E37-8EC7-4E1401F8D6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8" name="Rectangle 25">
              <a:extLst>
                <a:ext uri="{FF2B5EF4-FFF2-40B4-BE49-F238E27FC236}">
                  <a16:creationId xmlns:a16="http://schemas.microsoft.com/office/drawing/2014/main" id="{09C4704D-63DD-4634-B7DD-0CD0606076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9" name="Isosceles Triangle 38">
              <a:extLst>
                <a:ext uri="{FF2B5EF4-FFF2-40B4-BE49-F238E27FC236}">
                  <a16:creationId xmlns:a16="http://schemas.microsoft.com/office/drawing/2014/main" id="{174C30B2-37CB-4938-8275-E2C723DDAB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0" name="Rectangle 27">
              <a:extLst>
                <a:ext uri="{FF2B5EF4-FFF2-40B4-BE49-F238E27FC236}">
                  <a16:creationId xmlns:a16="http://schemas.microsoft.com/office/drawing/2014/main" id="{089D3B44-1A86-4F96-BCE6-1480A3FC04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1" name="Rectangle 28">
              <a:extLst>
                <a:ext uri="{FF2B5EF4-FFF2-40B4-BE49-F238E27FC236}">
                  <a16:creationId xmlns:a16="http://schemas.microsoft.com/office/drawing/2014/main" id="{5C9D5AB1-8613-4E4B-8493-677604271D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2" name="Rectangle 29">
              <a:extLst>
                <a:ext uri="{FF2B5EF4-FFF2-40B4-BE49-F238E27FC236}">
                  <a16:creationId xmlns:a16="http://schemas.microsoft.com/office/drawing/2014/main" id="{5B2B28BF-0C37-4FBE-B7C0-C89DB65D1E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3" name="Isosceles Triangle 42">
              <a:extLst>
                <a:ext uri="{FF2B5EF4-FFF2-40B4-BE49-F238E27FC236}">
                  <a16:creationId xmlns:a16="http://schemas.microsoft.com/office/drawing/2014/main" id="{788870B6-EDFC-4E72-88F2-3173E23C7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4" name="Isosceles Triangle 43">
              <a:extLst>
                <a:ext uri="{FF2B5EF4-FFF2-40B4-BE49-F238E27FC236}">
                  <a16:creationId xmlns:a16="http://schemas.microsoft.com/office/drawing/2014/main" id="{A79CCB63-9913-45AA-AC08-8B58C562F7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5608321" y="218586"/>
            <a:ext cx="3792752" cy="934721"/>
          </a:xfrm>
        </p:spPr>
        <p:txBody>
          <a:bodyPr vert="horz" lIns="91440" tIns="45720" rIns="91440" bIns="45720" rtlCol="0" anchor="ctr">
            <a:normAutofit/>
          </a:bodyPr>
          <a:lstStyle/>
          <a:p>
            <a:r>
              <a:rPr lang="en-IN" sz="2400" dirty="0">
                <a:solidFill>
                  <a:schemeClr val="accent1"/>
                </a:solidFill>
              </a:rPr>
              <a:t>Result 4 — Irrigation &amp; Water Efficiency</a:t>
            </a:r>
            <a:endParaRPr lang="en-US" sz="2400" dirty="0">
              <a:solidFill>
                <a:schemeClr val="accent1"/>
              </a:solidFill>
            </a:endParaRPr>
          </a:p>
        </p:txBody>
      </p:sp>
      <p:pic>
        <p:nvPicPr>
          <p:cNvPr id="14" name="Picture 13">
            <a:extLst>
              <a:ext uri="{FF2B5EF4-FFF2-40B4-BE49-F238E27FC236}">
                <a16:creationId xmlns:a16="http://schemas.microsoft.com/office/drawing/2014/main" id="{708AC6FC-8378-3751-EF69-A8DAC8396E45}"/>
              </a:ext>
            </a:extLst>
          </p:cNvPr>
          <p:cNvPicPr>
            <a:picLocks noChangeAspect="1"/>
          </p:cNvPicPr>
          <p:nvPr/>
        </p:nvPicPr>
        <p:blipFill>
          <a:blip r:embed="rId2"/>
          <a:stretch>
            <a:fillRect/>
          </a:stretch>
        </p:blipFill>
        <p:spPr>
          <a:xfrm>
            <a:off x="601755" y="2739843"/>
            <a:ext cx="4555009" cy="941570"/>
          </a:xfrm>
          <a:prstGeom prst="rect">
            <a:avLst/>
          </a:prstGeom>
        </p:spPr>
      </p:pic>
      <p:pic>
        <p:nvPicPr>
          <p:cNvPr id="12" name="Picture 11">
            <a:extLst>
              <a:ext uri="{FF2B5EF4-FFF2-40B4-BE49-F238E27FC236}">
                <a16:creationId xmlns:a16="http://schemas.microsoft.com/office/drawing/2014/main" id="{ED7BE680-97F5-65E0-A391-09D237E8265C}"/>
              </a:ext>
            </a:extLst>
          </p:cNvPr>
          <p:cNvPicPr>
            <a:picLocks noChangeAspect="1"/>
          </p:cNvPicPr>
          <p:nvPr/>
        </p:nvPicPr>
        <p:blipFill>
          <a:blip r:embed="rId3"/>
          <a:stretch>
            <a:fillRect/>
          </a:stretch>
        </p:blipFill>
        <p:spPr>
          <a:xfrm>
            <a:off x="601755" y="206120"/>
            <a:ext cx="4555009" cy="2320670"/>
          </a:xfrm>
          <a:prstGeom prst="rect">
            <a:avLst/>
          </a:prstGeom>
        </p:spPr>
      </p:pic>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4"/>
          <a:srcRect t="96181"/>
          <a:stretch/>
        </p:blipFill>
        <p:spPr>
          <a:xfrm>
            <a:off x="677326" y="4689674"/>
            <a:ext cx="2596283" cy="99152"/>
          </a:xfrm>
          <a:prstGeom prst="rect">
            <a:avLst/>
          </a:prstGeom>
        </p:spPr>
      </p:pic>
      <p:sp>
        <p:nvSpPr>
          <p:cNvPr id="3" name="Text Placeholder 2">
            <a:extLst>
              <a:ext uri="{FF2B5EF4-FFF2-40B4-BE49-F238E27FC236}">
                <a16:creationId xmlns:a16="http://schemas.microsoft.com/office/drawing/2014/main" id="{3BE504B4-CFF7-08B6-158C-9FD66B68BF23}"/>
              </a:ext>
            </a:extLst>
          </p:cNvPr>
          <p:cNvSpPr>
            <a:spLocks noGrp="1"/>
          </p:cNvSpPr>
          <p:nvPr>
            <p:ph type="body" sz="quarter" idx="12"/>
          </p:nvPr>
        </p:nvSpPr>
        <p:spPr>
          <a:xfrm>
            <a:off x="6057513" y="2076996"/>
            <a:ext cx="3343560" cy="3447383"/>
          </a:xfrm>
        </p:spPr>
        <p:txBody>
          <a:bodyPr vert="horz" lIns="91440" tIns="45720" rIns="91440" bIns="45720" rtlCol="0">
            <a:normAutofit fontScale="92500" lnSpcReduction="10000"/>
          </a:bodyPr>
          <a:lstStyle/>
          <a:p>
            <a:pPr marL="0" indent="0">
              <a:lnSpc>
                <a:spcPct val="90000"/>
              </a:lnSpc>
              <a:buClr>
                <a:schemeClr val="accent1"/>
              </a:buClr>
              <a:buNone/>
            </a:pPr>
            <a:r>
              <a:rPr lang="en-US" b="1" dirty="0"/>
              <a:t>Key Findings</a:t>
            </a:r>
          </a:p>
          <a:p>
            <a:pPr lvl="0">
              <a:lnSpc>
                <a:spcPct val="90000"/>
              </a:lnSpc>
              <a:buClr>
                <a:schemeClr val="accent1"/>
              </a:buClr>
              <a:buFont typeface="Wingdings 3" charset="2"/>
              <a:buChar char=""/>
            </a:pPr>
            <a:r>
              <a:rPr lang="en-US" sz="1800" b="1" dirty="0"/>
              <a:t>Drip irrigation recorded the highest average yield (6.62 </a:t>
            </a:r>
            <a:r>
              <a:rPr lang="en-US" sz="1800" b="1" dirty="0" err="1"/>
              <a:t>tonnes</a:t>
            </a:r>
            <a:r>
              <a:rPr lang="en-US" sz="1800" b="1" dirty="0"/>
              <a:t>/ha).</a:t>
            </a:r>
            <a:r>
              <a:rPr lang="en-US" sz="1800" dirty="0"/>
              <a:t> </a:t>
            </a:r>
          </a:p>
          <a:p>
            <a:pPr lvl="0">
              <a:lnSpc>
                <a:spcPct val="90000"/>
              </a:lnSpc>
              <a:buClr>
                <a:schemeClr val="accent1"/>
              </a:buClr>
              <a:buFont typeface="Wingdings 3" charset="2"/>
              <a:buChar char=""/>
            </a:pPr>
            <a:r>
              <a:rPr lang="en-US" sz="1800" b="1" dirty="0"/>
              <a:t>Rainfed farming recorded the highest average water efficiency (7.57 </a:t>
            </a:r>
            <a:r>
              <a:rPr lang="en-US" sz="1800" b="1" dirty="0" err="1"/>
              <a:t>tonnes</a:t>
            </a:r>
            <a:r>
              <a:rPr lang="en-US" sz="1800" b="1" dirty="0"/>
              <a:t>/1,000 m³).</a:t>
            </a:r>
            <a:r>
              <a:rPr lang="en-US" sz="1800" dirty="0"/>
              <a:t> </a:t>
            </a:r>
          </a:p>
          <a:p>
            <a:pPr lvl="0">
              <a:lnSpc>
                <a:spcPct val="100000"/>
              </a:lnSpc>
              <a:buClr>
                <a:schemeClr val="accent1"/>
              </a:buClr>
              <a:buFont typeface="Wingdings 3" charset="2"/>
              <a:buChar char=""/>
            </a:pPr>
            <a:r>
              <a:rPr lang="en-IN" sz="1800" b="1" dirty="0"/>
              <a:t>Drip irrigation showed the highest average yield, while rainfed farming showed the highest water efficiency.</a:t>
            </a:r>
            <a:endParaRPr lang="en-US" sz="1700" b="1" dirty="0"/>
          </a:p>
        </p:txBody>
      </p:sp>
      <p:pic>
        <p:nvPicPr>
          <p:cNvPr id="9" name="Picture 8">
            <a:extLst>
              <a:ext uri="{FF2B5EF4-FFF2-40B4-BE49-F238E27FC236}">
                <a16:creationId xmlns:a16="http://schemas.microsoft.com/office/drawing/2014/main" id="{5BFE9B7E-F97F-CEC1-A07C-2A201FA6FD59}"/>
              </a:ext>
            </a:extLst>
          </p:cNvPr>
          <p:cNvPicPr>
            <a:picLocks noChangeAspect="1"/>
          </p:cNvPicPr>
          <p:nvPr/>
        </p:nvPicPr>
        <p:blipFill>
          <a:blip r:embed="rId5"/>
          <a:stretch>
            <a:fillRect/>
          </a:stretch>
        </p:blipFill>
        <p:spPr>
          <a:xfrm>
            <a:off x="601754" y="3807081"/>
            <a:ext cx="5346549" cy="2844799"/>
          </a:xfrm>
          <a:prstGeom prst="rect">
            <a:avLst/>
          </a:prstGeom>
        </p:spPr>
      </p:pic>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grpSp>
        <p:nvGrpSpPr>
          <p:cNvPr id="32" name="Group 31">
            <a:extLst>
              <a:ext uri="{FF2B5EF4-FFF2-40B4-BE49-F238E27FC236}">
                <a16:creationId xmlns:a16="http://schemas.microsoft.com/office/drawing/2014/main" id="{CD76979B-5F8A-4DD7-968D-E03870FCFE1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33" name="Straight Connector 32">
              <a:extLst>
                <a:ext uri="{FF2B5EF4-FFF2-40B4-BE49-F238E27FC236}">
                  <a16:creationId xmlns:a16="http://schemas.microsoft.com/office/drawing/2014/main" id="{39CB0BD6-DA8B-4C62-A380-FBF254F22F1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E6061DD5-19FF-4028-8EC6-35434F50A2F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5" name="Rectangle 23">
              <a:extLst>
                <a:ext uri="{FF2B5EF4-FFF2-40B4-BE49-F238E27FC236}">
                  <a16:creationId xmlns:a16="http://schemas.microsoft.com/office/drawing/2014/main" id="{5D830324-2549-48FF-9DCE-52656C4B56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6" name="Rectangle 25">
              <a:extLst>
                <a:ext uri="{FF2B5EF4-FFF2-40B4-BE49-F238E27FC236}">
                  <a16:creationId xmlns:a16="http://schemas.microsoft.com/office/drawing/2014/main" id="{4C93D8FA-C150-4198-81E0-67E60289B5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7" name="Isosceles Triangle 36">
              <a:extLst>
                <a:ext uri="{FF2B5EF4-FFF2-40B4-BE49-F238E27FC236}">
                  <a16:creationId xmlns:a16="http://schemas.microsoft.com/office/drawing/2014/main" id="{C9DB882D-4CF6-404F-AD94-2A39FED11F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8" name="Rectangle 27">
              <a:extLst>
                <a:ext uri="{FF2B5EF4-FFF2-40B4-BE49-F238E27FC236}">
                  <a16:creationId xmlns:a16="http://schemas.microsoft.com/office/drawing/2014/main" id="{A7BECA28-3BC7-4E90-B46F-6AE6B1A37A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9" name="Rectangle 28">
              <a:extLst>
                <a:ext uri="{FF2B5EF4-FFF2-40B4-BE49-F238E27FC236}">
                  <a16:creationId xmlns:a16="http://schemas.microsoft.com/office/drawing/2014/main" id="{321E725C-18EE-4BB1-9C48-421C51A408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0" name="Rectangle 29">
              <a:extLst>
                <a:ext uri="{FF2B5EF4-FFF2-40B4-BE49-F238E27FC236}">
                  <a16:creationId xmlns:a16="http://schemas.microsoft.com/office/drawing/2014/main" id="{F95C43BE-926A-4C9A-AB44-62E4D524B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1" name="Isosceles Triangle 40">
              <a:extLst>
                <a:ext uri="{FF2B5EF4-FFF2-40B4-BE49-F238E27FC236}">
                  <a16:creationId xmlns:a16="http://schemas.microsoft.com/office/drawing/2014/main" id="{226C3F00-2A9E-461A-A1A6-202CD0A2DE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2" name="Isosceles Triangle 41">
              <a:extLst>
                <a:ext uri="{FF2B5EF4-FFF2-40B4-BE49-F238E27FC236}">
                  <a16:creationId xmlns:a16="http://schemas.microsoft.com/office/drawing/2014/main" id="{00E639C2-20E7-4880-BE5C-A1A247DCE8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497539" y="375778"/>
            <a:ext cx="6185712" cy="783498"/>
          </a:xfrm>
        </p:spPr>
        <p:txBody>
          <a:bodyPr vert="horz" lIns="91440" tIns="45720" rIns="91440" bIns="45720" rtlCol="0" anchor="t">
            <a:normAutofit/>
          </a:bodyPr>
          <a:lstStyle/>
          <a:p>
            <a:r>
              <a:rPr lang="en-US" sz="2400" dirty="0">
                <a:solidFill>
                  <a:schemeClr val="accent1"/>
                </a:solidFill>
              </a:rPr>
              <a:t>Result 5 — Profitability &amp; Loss Analysis</a:t>
            </a:r>
          </a:p>
        </p:txBody>
      </p:sp>
      <p:sp>
        <p:nvSpPr>
          <p:cNvPr id="44" name="Isosceles Triangle 8">
            <a:extLst>
              <a:ext uri="{FF2B5EF4-FFF2-40B4-BE49-F238E27FC236}">
                <a16:creationId xmlns:a16="http://schemas.microsoft.com/office/drawing/2014/main" id="{06A51FAE-5E00-4216-9881-05169938DE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1"/>
            <a:ext cx="476655"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2" name="Picture 11">
            <a:extLst>
              <a:ext uri="{FF2B5EF4-FFF2-40B4-BE49-F238E27FC236}">
                <a16:creationId xmlns:a16="http://schemas.microsoft.com/office/drawing/2014/main" id="{024AA96C-388C-891C-0621-06D9C6B83850}"/>
              </a:ext>
            </a:extLst>
          </p:cNvPr>
          <p:cNvPicPr>
            <a:picLocks noChangeAspect="1"/>
          </p:cNvPicPr>
          <p:nvPr/>
        </p:nvPicPr>
        <p:blipFill>
          <a:blip r:embed="rId2"/>
          <a:srcRect r="9628" b="-5"/>
          <a:stretch>
            <a:fillRect/>
          </a:stretch>
        </p:blipFill>
        <p:spPr>
          <a:xfrm>
            <a:off x="497735" y="4908797"/>
            <a:ext cx="2616049" cy="1795748"/>
          </a:xfrm>
          <a:prstGeom prst="rect">
            <a:avLst/>
          </a:prstGeom>
        </p:spPr>
      </p:pic>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6991769" y="920209"/>
            <a:ext cx="2948121" cy="3880773"/>
          </a:xfrm>
        </p:spPr>
        <p:txBody>
          <a:bodyPr vert="horz" lIns="91440" tIns="45720" rIns="91440" bIns="45720" rtlCol="0">
            <a:normAutofit/>
          </a:bodyPr>
          <a:lstStyle/>
          <a:p>
            <a:pPr marL="0" indent="0">
              <a:lnSpc>
                <a:spcPct val="90000"/>
              </a:lnSpc>
              <a:buClr>
                <a:schemeClr val="accent1"/>
              </a:buClr>
              <a:buNone/>
            </a:pPr>
            <a:r>
              <a:rPr lang="en-US" sz="1400" b="1" dirty="0"/>
              <a:t>Key Findings</a:t>
            </a:r>
          </a:p>
          <a:p>
            <a:pPr lvl="0">
              <a:lnSpc>
                <a:spcPct val="90000"/>
              </a:lnSpc>
              <a:buClr>
                <a:schemeClr val="accent1"/>
              </a:buClr>
              <a:buFont typeface="Wingdings 3" charset="2"/>
              <a:buChar char=""/>
            </a:pPr>
            <a:r>
              <a:rPr lang="en-US" sz="1400" b="1" dirty="0"/>
              <a:t>Sugarcane recorded the highest average profit across all seasons.</a:t>
            </a:r>
            <a:r>
              <a:rPr lang="en-US" sz="1400" dirty="0"/>
              <a:t> </a:t>
            </a:r>
          </a:p>
          <a:p>
            <a:pPr lvl="0">
              <a:lnSpc>
                <a:spcPct val="90000"/>
              </a:lnSpc>
              <a:buClr>
                <a:schemeClr val="accent1"/>
              </a:buClr>
              <a:buFont typeface="Wingdings 3" charset="2"/>
              <a:buChar char=""/>
            </a:pPr>
            <a:r>
              <a:rPr lang="en-US" sz="1400" b="1" dirty="0"/>
              <a:t>Sugarcane in Kharif recorded the highest average profit of ₹10.01 lakh.</a:t>
            </a:r>
            <a:r>
              <a:rPr lang="en-US" sz="1400" dirty="0"/>
              <a:t> </a:t>
            </a:r>
          </a:p>
          <a:p>
            <a:pPr lvl="0">
              <a:lnSpc>
                <a:spcPct val="90000"/>
              </a:lnSpc>
              <a:buClr>
                <a:schemeClr val="accent1"/>
              </a:buClr>
              <a:buFont typeface="Wingdings 3" charset="2"/>
              <a:buChar char=""/>
            </a:pPr>
            <a:r>
              <a:rPr lang="en-US" sz="1400" b="1" dirty="0"/>
              <a:t>Zaid had the highest percentage of loss-making farms (64.52%).</a:t>
            </a:r>
            <a:r>
              <a:rPr lang="en-US" sz="1400" dirty="0"/>
              <a:t> </a:t>
            </a:r>
          </a:p>
          <a:p>
            <a:pPr lvl="0">
              <a:lnSpc>
                <a:spcPct val="90000"/>
              </a:lnSpc>
              <a:buClr>
                <a:schemeClr val="accent1"/>
              </a:buClr>
              <a:buFont typeface="Wingdings 3" charset="2"/>
              <a:buChar char=""/>
            </a:pPr>
            <a:r>
              <a:rPr lang="en-US" sz="1400" b="1" dirty="0"/>
              <a:t>Several crop-season combinations showed negative average profitability.</a:t>
            </a:r>
            <a:endParaRPr lang="en-US" sz="1400" dirty="0"/>
          </a:p>
          <a:p>
            <a:pPr marL="0" indent="0">
              <a:lnSpc>
                <a:spcPct val="90000"/>
              </a:lnSpc>
              <a:buClr>
                <a:schemeClr val="accent1"/>
              </a:buClr>
              <a:buFont typeface="Wingdings 3" charset="2"/>
              <a:buChar char=""/>
            </a:pPr>
            <a:endParaRPr lang="en-US" sz="1400"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4" name="Picture 13">
            <a:extLst>
              <a:ext uri="{FF2B5EF4-FFF2-40B4-BE49-F238E27FC236}">
                <a16:creationId xmlns:a16="http://schemas.microsoft.com/office/drawing/2014/main" id="{9F611611-E112-C950-48F8-DD9206A027DD}"/>
              </a:ext>
            </a:extLst>
          </p:cNvPr>
          <p:cNvPicPr>
            <a:picLocks noChangeAspect="1"/>
          </p:cNvPicPr>
          <p:nvPr/>
        </p:nvPicPr>
        <p:blipFill>
          <a:blip r:embed="rId3"/>
          <a:stretch>
            <a:fillRect/>
          </a:stretch>
        </p:blipFill>
        <p:spPr>
          <a:xfrm>
            <a:off x="3162580" y="3842346"/>
            <a:ext cx="4213891" cy="2606062"/>
          </a:xfrm>
          <a:prstGeom prst="rect">
            <a:avLst/>
          </a:prstGeom>
        </p:spPr>
      </p:pic>
      <p:pic>
        <p:nvPicPr>
          <p:cNvPr id="16" name="Picture 15">
            <a:extLst>
              <a:ext uri="{FF2B5EF4-FFF2-40B4-BE49-F238E27FC236}">
                <a16:creationId xmlns:a16="http://schemas.microsoft.com/office/drawing/2014/main" id="{321243F4-CBD9-85B5-802D-E7BA4363BD22}"/>
              </a:ext>
            </a:extLst>
          </p:cNvPr>
          <p:cNvPicPr>
            <a:picLocks noChangeAspect="1"/>
          </p:cNvPicPr>
          <p:nvPr/>
        </p:nvPicPr>
        <p:blipFill>
          <a:blip r:embed="rId4"/>
          <a:stretch>
            <a:fillRect/>
          </a:stretch>
        </p:blipFill>
        <p:spPr>
          <a:xfrm>
            <a:off x="494365" y="929163"/>
            <a:ext cx="4465466" cy="275225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1" end="1"/>
                                            </p:txEl>
                                          </p:spTgt>
                                        </p:tgtEl>
                                        <p:attrNameLst>
                                          <p:attrName>style.visibility</p:attrName>
                                        </p:attrNameLst>
                                      </p:cBhvr>
                                      <p:to>
                                        <p:strVal val="visible"/>
                                      </p:to>
                                    </p:set>
                                    <p:animEffect transition="in" filter="fade">
                                      <p:cBhvr>
                                        <p:cTn id="28" dur="1000"/>
                                        <p:tgtEl>
                                          <p:spTgt spid="10">
                                            <p:txEl>
                                              <p:pRg st="1" end="1"/>
                                            </p:txEl>
                                          </p:spTgt>
                                        </p:tgtEl>
                                      </p:cBhvr>
                                    </p:animEffect>
                                    <p:anim calcmode="lin" valueType="num">
                                      <p:cBhvr>
                                        <p:cTn id="29"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2" end="2"/>
                                            </p:txEl>
                                          </p:spTgt>
                                        </p:tgtEl>
                                        <p:attrNameLst>
                                          <p:attrName>style.visibility</p:attrName>
                                        </p:attrNameLst>
                                      </p:cBhvr>
                                      <p:to>
                                        <p:strVal val="visible"/>
                                      </p:to>
                                    </p:set>
                                    <p:animEffect transition="in" filter="fade">
                                      <p:cBhvr>
                                        <p:cTn id="35" dur="1000"/>
                                        <p:tgtEl>
                                          <p:spTgt spid="10">
                                            <p:txEl>
                                              <p:pRg st="2" end="2"/>
                                            </p:txEl>
                                          </p:spTgt>
                                        </p:tgtEl>
                                      </p:cBhvr>
                                    </p:animEffect>
                                    <p:anim calcmode="lin" valueType="num">
                                      <p:cBhvr>
                                        <p:cTn id="36"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3" end="3"/>
                                            </p:txEl>
                                          </p:spTgt>
                                        </p:tgtEl>
                                        <p:attrNameLst>
                                          <p:attrName>style.visibility</p:attrName>
                                        </p:attrNameLst>
                                      </p:cBhvr>
                                      <p:to>
                                        <p:strVal val="visible"/>
                                      </p:to>
                                    </p:set>
                                    <p:animEffect transition="in" filter="fade">
                                      <p:cBhvr>
                                        <p:cTn id="42" dur="1000"/>
                                        <p:tgtEl>
                                          <p:spTgt spid="10">
                                            <p:txEl>
                                              <p:pRg st="3" end="3"/>
                                            </p:txEl>
                                          </p:spTgt>
                                        </p:tgtEl>
                                      </p:cBhvr>
                                    </p:animEffect>
                                    <p:anim calcmode="lin" valueType="num">
                                      <p:cBhvr>
                                        <p:cTn id="43"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4" end="4"/>
                                            </p:txEl>
                                          </p:spTgt>
                                        </p:tgtEl>
                                        <p:attrNameLst>
                                          <p:attrName>style.visibility</p:attrName>
                                        </p:attrNameLst>
                                      </p:cBhvr>
                                      <p:to>
                                        <p:strVal val="visible"/>
                                      </p:to>
                                    </p:set>
                                    <p:animEffect transition="in" filter="fade">
                                      <p:cBhvr>
                                        <p:cTn id="49" dur="1000"/>
                                        <p:tgtEl>
                                          <p:spTgt spid="10">
                                            <p:txEl>
                                              <p:pRg st="4" end="4"/>
                                            </p:txEl>
                                          </p:spTgt>
                                        </p:tgtEl>
                                      </p:cBhvr>
                                    </p:animEffect>
                                    <p:anim calcmode="lin" valueType="num">
                                      <p:cBhvr>
                                        <p:cTn id="50"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build="p"/>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296210"/>
            <a:ext cx="4735798" cy="830997"/>
          </a:xfrm>
        </p:spPr>
        <p:txBody>
          <a:bodyPr>
            <a:normAutofit/>
          </a:bodyPr>
          <a:lstStyle/>
          <a:p>
            <a:r>
              <a:rPr lang="en-IN" sz="43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480E740B-5242-4A3A-3144-B8DE464A2BE8}"/>
              </a:ext>
            </a:extLst>
          </p:cNvPr>
          <p:cNvSpPr txBox="1"/>
          <p:nvPr/>
        </p:nvSpPr>
        <p:spPr>
          <a:xfrm>
            <a:off x="675957" y="1127207"/>
            <a:ext cx="8117840" cy="5078313"/>
          </a:xfrm>
          <a:prstGeom prst="rect">
            <a:avLst/>
          </a:prstGeom>
          <a:noFill/>
        </p:spPr>
        <p:txBody>
          <a:bodyPr wrap="square" rtlCol="0">
            <a:spAutoFit/>
          </a:bodyPr>
          <a:lstStyle/>
          <a:p>
            <a:pPr marL="285750" lvl="0" indent="-285750">
              <a:buFont typeface="Arial" panose="020B0604020202020204" pitchFamily="34" charset="0"/>
              <a:buChar char="•"/>
            </a:pPr>
            <a:r>
              <a:rPr lang="en-IN" b="1" dirty="0"/>
              <a:t>Larger and more diverse datasets</a:t>
            </a:r>
            <a:br>
              <a:rPr lang="en-IN" dirty="0"/>
            </a:br>
            <a:r>
              <a:rPr lang="en-IN" dirty="0"/>
              <a:t>Include data from more regions, farms and multiple years for broader analysis. </a:t>
            </a:r>
          </a:p>
          <a:p>
            <a:pPr lvl="0"/>
            <a:endParaRPr lang="en-IN" dirty="0"/>
          </a:p>
          <a:p>
            <a:pPr marL="285750" lvl="0" indent="-285750">
              <a:buFont typeface="Arial" panose="020B0604020202020204" pitchFamily="34" charset="0"/>
              <a:buChar char="•"/>
            </a:pPr>
            <a:r>
              <a:rPr lang="en-IN" b="1" dirty="0"/>
              <a:t>More detailed environmental data</a:t>
            </a:r>
            <a:br>
              <a:rPr lang="en-IN" dirty="0"/>
            </a:br>
            <a:r>
              <a:rPr lang="en-IN" dirty="0"/>
              <a:t>Include detailed weather, soil and climate information to better understand agricultural performance. </a:t>
            </a:r>
          </a:p>
          <a:p>
            <a:pPr lvl="0"/>
            <a:endParaRPr lang="en-IN" dirty="0"/>
          </a:p>
          <a:p>
            <a:pPr marL="285750" lvl="0" indent="-285750">
              <a:buFont typeface="Arial" panose="020B0604020202020204" pitchFamily="34" charset="0"/>
              <a:buChar char="•"/>
            </a:pPr>
            <a:r>
              <a:rPr lang="en-IN" b="1" dirty="0"/>
              <a:t>Cost and market analysis</a:t>
            </a:r>
            <a:br>
              <a:rPr lang="en-IN" dirty="0"/>
            </a:br>
            <a:r>
              <a:rPr lang="en-IN" dirty="0"/>
              <a:t>Include changes in input prices, crop prices and market conditions for deeper profitability analysis. </a:t>
            </a:r>
          </a:p>
          <a:p>
            <a:pPr lvl="0"/>
            <a:endParaRPr lang="en-IN" dirty="0"/>
          </a:p>
          <a:p>
            <a:pPr marL="285750" lvl="0" indent="-285750">
              <a:buFont typeface="Arial" panose="020B0604020202020204" pitchFamily="34" charset="0"/>
              <a:buChar char="•"/>
            </a:pPr>
            <a:r>
              <a:rPr lang="en-IN" b="1" dirty="0"/>
              <a:t>Farm-level resource analysis</a:t>
            </a:r>
            <a:br>
              <a:rPr lang="en-IN" dirty="0"/>
            </a:br>
            <a:r>
              <a:rPr lang="en-IN" dirty="0"/>
              <a:t>Study fertilizer, water, labour and other resource usage in greater detail. </a:t>
            </a:r>
          </a:p>
          <a:p>
            <a:pPr lvl="0"/>
            <a:endParaRPr lang="en-IN" dirty="0"/>
          </a:p>
          <a:p>
            <a:pPr marL="285750" lvl="0" indent="-285750">
              <a:buFont typeface="Arial" panose="020B0604020202020204" pitchFamily="34" charset="0"/>
              <a:buChar char="•"/>
            </a:pPr>
            <a:r>
              <a:rPr lang="en-IN" b="1" dirty="0"/>
              <a:t>Real-time agricultural data</a:t>
            </a:r>
            <a:br>
              <a:rPr lang="en-IN" dirty="0"/>
            </a:br>
            <a:r>
              <a:rPr lang="en-IN" dirty="0"/>
              <a:t>Future analysis can incorporate sensor or real-time field data for more detailed monitoring.</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300" dirty="0"/>
              <a:t>GitHub Repository</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9051CDAA-A5E3-49BB-6C27-1DFE4958A4A2}"/>
              </a:ext>
            </a:extLst>
          </p:cNvPr>
          <p:cNvSpPr txBox="1"/>
          <p:nvPr/>
        </p:nvSpPr>
        <p:spPr>
          <a:xfrm>
            <a:off x="675957" y="1349621"/>
            <a:ext cx="8427403" cy="3170099"/>
          </a:xfrm>
          <a:prstGeom prst="rect">
            <a:avLst/>
          </a:prstGeom>
          <a:noFill/>
        </p:spPr>
        <p:txBody>
          <a:bodyPr wrap="square" rtlCol="0">
            <a:spAutoFit/>
          </a:bodyPr>
          <a:lstStyle/>
          <a:p>
            <a:r>
              <a:rPr lang="en-IN" sz="2000" b="1" dirty="0"/>
              <a:t>Seasonal Agriculture Performance Analysis</a:t>
            </a:r>
          </a:p>
          <a:p>
            <a:r>
              <a:rPr lang="en-IN" dirty="0"/>
              <a:t>	</a:t>
            </a:r>
          </a:p>
          <a:p>
            <a:r>
              <a:rPr lang="en-IN" dirty="0">
                <a:solidFill>
                  <a:schemeClr val="accent2"/>
                </a:solidFill>
                <a:hlinkClick r:id="rId3">
                  <a:extLst>
                    <a:ext uri="{A12FA001-AC4F-418D-AE19-62706E023703}">
                      <ahyp:hlinkClr xmlns:ahyp="http://schemas.microsoft.com/office/drawing/2018/hyperlinkcolor" val="tx"/>
                    </a:ext>
                  </a:extLst>
                </a:hlinkClick>
              </a:rPr>
              <a:t>View Project on GitHub →</a:t>
            </a:r>
            <a:endParaRPr lang="en-IN" dirty="0">
              <a:solidFill>
                <a:schemeClr val="accent2"/>
              </a:solidFill>
            </a:endParaRPr>
          </a:p>
          <a:p>
            <a:endParaRPr lang="en-IN" dirty="0">
              <a:solidFill>
                <a:schemeClr val="accent2"/>
              </a:solidFill>
            </a:endParaRPr>
          </a:p>
          <a:p>
            <a:r>
              <a:rPr lang="en-IN" b="1" dirty="0"/>
              <a:t>Repository includes:</a:t>
            </a:r>
          </a:p>
          <a:p>
            <a:endParaRPr lang="en-IN" dirty="0"/>
          </a:p>
          <a:p>
            <a:pPr marL="285750" lvl="0" indent="-285750">
              <a:buFont typeface="Arial" panose="020B0604020202020204" pitchFamily="34" charset="0"/>
              <a:buChar char="•"/>
            </a:pPr>
            <a:r>
              <a:rPr lang="en-IN" dirty="0"/>
              <a:t>Jupyter Notebook</a:t>
            </a:r>
          </a:p>
          <a:p>
            <a:pPr marL="285750" lvl="0" indent="-285750">
              <a:buFont typeface="Arial" panose="020B0604020202020204" pitchFamily="34" charset="0"/>
              <a:buChar char="•"/>
            </a:pPr>
            <a:r>
              <a:rPr lang="en-IN" dirty="0"/>
              <a:t>Dataset </a:t>
            </a:r>
          </a:p>
          <a:p>
            <a:pPr marL="285750" lvl="0" indent="-285750">
              <a:buFont typeface="Arial" panose="020B0604020202020204" pitchFamily="34" charset="0"/>
              <a:buChar char="•"/>
            </a:pPr>
            <a:r>
              <a:rPr lang="en-IN" dirty="0"/>
              <a:t>Project Report (PDF) </a:t>
            </a:r>
          </a:p>
          <a:p>
            <a:pPr marL="285750" lvl="0" indent="-285750">
              <a:buFont typeface="Arial" panose="020B0604020202020204" pitchFamily="34" charset="0"/>
              <a:buChar char="•"/>
            </a:pPr>
            <a:r>
              <a:rPr lang="en-IN" dirty="0"/>
              <a:t>Project Presentation (PPT)</a:t>
            </a:r>
          </a:p>
          <a:p>
            <a:endParaRPr lang="en-IN"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pPr algn="ctr"/>
            <a:r>
              <a:rPr lang="en-IN" sz="3200" dirty="0"/>
              <a:t>		 VOIS Course Completion Certificate </a:t>
            </a:r>
            <a:br>
              <a:rPr lang="en-IN" sz="3200" dirty="0"/>
            </a:br>
            <a:r>
              <a:rPr lang="en-IN" sz="3200" dirty="0"/>
              <a:t>	     Course name- Data Visualization</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97F062A2-283E-9AA4-919C-D1796CAC2D4F}"/>
              </a:ext>
            </a:extLst>
          </p:cNvPr>
          <p:cNvPicPr>
            <a:picLocks noChangeAspect="1"/>
          </p:cNvPicPr>
          <p:nvPr/>
        </p:nvPicPr>
        <p:blipFill>
          <a:blip r:embed="rId3"/>
          <a:stretch>
            <a:fillRect/>
          </a:stretch>
        </p:blipFill>
        <p:spPr>
          <a:xfrm>
            <a:off x="1747519" y="1356584"/>
            <a:ext cx="7543483" cy="5308376"/>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5" name="TextBox 4">
            <a:extLst>
              <a:ext uri="{FF2B5EF4-FFF2-40B4-BE49-F238E27FC236}">
                <a16:creationId xmlns:a16="http://schemas.microsoft.com/office/drawing/2014/main" id="{21270118-FE54-D7D3-60DB-BE7E61F65A0D}"/>
              </a:ext>
            </a:extLst>
          </p:cNvPr>
          <p:cNvSpPr txBox="1"/>
          <p:nvPr/>
        </p:nvSpPr>
        <p:spPr>
          <a:xfrm>
            <a:off x="3727865" y="1754410"/>
            <a:ext cx="6101080" cy="923330"/>
          </a:xfrm>
          <a:prstGeom prst="rect">
            <a:avLst/>
          </a:prstGeom>
          <a:noFill/>
        </p:spPr>
        <p:txBody>
          <a:bodyPr wrap="square">
            <a:spAutoFit/>
          </a:bodyPr>
          <a:lstStyle/>
          <a:p>
            <a:pPr>
              <a:buNone/>
            </a:pPr>
            <a:r>
              <a:rPr lang="en-IN" b="1" dirty="0"/>
              <a:t>Thank you for your time and attention.</a:t>
            </a:r>
          </a:p>
          <a:p>
            <a:pPr>
              <a:buNone/>
            </a:pPr>
            <a:r>
              <a:rPr lang="en-IN" b="1" dirty="0"/>
              <a:t>Seasonal Agriculture Performance Analysis</a:t>
            </a:r>
            <a:br>
              <a:rPr lang="en-IN" b="1" dirty="0"/>
            </a:br>
            <a:r>
              <a:rPr lang="en-IN" b="1" dirty="0"/>
              <a:t>Presented by Aditya Prasad Soni</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1214</TotalTime>
  <Words>725</Words>
  <Application>Microsoft Office PowerPoint</Application>
  <PresentationFormat>Widescreen</PresentationFormat>
  <Paragraphs>80</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vt:lpstr>
      <vt:lpstr>Who Are The End Users?</vt:lpstr>
      <vt:lpstr>Technology Used</vt:lpstr>
      <vt:lpstr>Result 1 — Seasonal Performance</vt:lpstr>
      <vt:lpstr>Result 2 — Crop &amp; Season Performance</vt:lpstr>
      <vt:lpstr>Result 3 — Environmental Conditions &amp; Yield</vt:lpstr>
      <vt:lpstr>Result 4 — Irrigation &amp; Water Efficiency</vt:lpstr>
      <vt:lpstr>Result 5 — Profitability &amp; Loss Analysis</vt:lpstr>
      <vt:lpstr>Future Scope</vt:lpstr>
      <vt:lpstr>GitHub Repository</vt:lpstr>
      <vt:lpstr>   VOIS Course Completion Certificate        Course name- Data Visualization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Aditya Soni</cp:lastModifiedBy>
  <cp:revision>101</cp:revision>
  <dcterms:created xsi:type="dcterms:W3CDTF">2021-07-11T13:13:15Z</dcterms:created>
  <dcterms:modified xsi:type="dcterms:W3CDTF">2026-09-09T10:36:54Z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